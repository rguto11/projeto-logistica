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0:20] Boa tarde. Somos o grupo formado por [NOMES]. Vamos apresentar um sistema de três microsserviços que se comunicam por HTTP, rodando em Docker Compose, para acompanhar o desempenho de entregas de uma transportadora urbana. A apresentação dura cerca de oito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0:40] O cenário é uma transportadora urbana com cinco regiões, frota de motos, vans e caminhões e uma equipe de motoristas. A gestão precisa saber se cumpre prazos, quanto custa cada quilômetro e onde estão os gargalos. Sem consolidação, as decisões são baseadas em percepção. Os dados são sintéticos, gerados de forma determinística, para que os resultados sejam reproduzíveis.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0:40] O objetivo geral é construir um sistema em microsserviços que gere um relatório consolidado. Os objetivos específicos seguem o enunciado: um serviço de dados com banco relacional, um de processamento que só conversa por HTTP, um de relatório que orquestra, e tudo containerizado com um Dockerfile por serviço e Docker Compose.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0:50] Este é o diagrama. O cliente fala só com o Serviço de Relatório, na porta 8003. Ele chama o Serviço de Processamento, porta 8002, que busca os dados no Serviço de Dados, porta 8001. O Relatório também consulta o endpoint de resumo do Dados. Apenas o Serviço de Dados acessa o PostgreSQL, que não tem porta publicada. Tudo roda na rede logistica-net do Compose.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0:40] Escolhemos o menor conjunto de ferramentas que cumpre os requisitos. Python com Flask pela simplicidade, Gunicorn para não usar o servidor de desenvolvimento, PostgreSQL pela integridade relacional, requests para as chamadas entre serviços, Docker e Compose para reprodutibilidade e pytest para testar os três serviços sem rede nem banco.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0:45] O Serviço de Dados é o dono do banco. Há três tabelas: motoristas, veículos e entregas, com chaves estrangeiras e restrições. Na primeira subida ele carrega, com semente fixa 42, 20 motoristas, 12 veículos e 400 entregas, e não duplica nada nos reinícios. Há GET com filtros e paginação, POST e PATCH. Erros voltam em JSON: 400, 404, 405, 409 para placa duplicada, 500 e 503 quando o banco cai.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0:45] O Processamento não tem driver de banco: lê tudo por HTTP, paginando de mil em mil. A regra central é que o atraso é derivado: máximo entre zero e a diferença entre entrega real e prazo. Com isso calculamos percentual no prazo, atraso médio, custo por quilômetro, ranking de motoristas, atrasos críticos de 120 minutos ou mais e outliers de custo pela regra do IQR. As funções são puras e cobertas por testes automatizados. Ele espera 5 segundos pelo Dados, com 2 tentativas.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0:35] O Relatório orquestra: chama o resumo no Dados, chama o endpoint completo no Processamento e monta o relatório consolidado, com observações automáticas. Ele entrega em JSON para integração, CSV para planilhas e HTML para leitura direta. Formato inválido devolve 400 e, se uma dependência falhar, devolve 502 identificando qual serviço caiu. Os timeouts são em cascata: 5 segundos do Processamento ao Dados, 30 do Relatório ao Processamento, e 60 no Gunicorn.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0:50] Cada serviço tem o seu Dockerfile, com imagem python 3.12.12 slim, dependências fixadas e usuário sem privilégios. O Compose define a rede logistica-net, o volume do banco e quatro serviços. Os healthchecks usam urllib porque a imagem slim não tem curl, e depends_on com service_healthy garante a ordem: banco, Dados, Processamento e Relatório. O banco não publica porta no host.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0:55] Na demonstração ao vivo: subimos tudo com um comando, verificamos que os quatro contêineres estão saudáveis, consultamos o resumo do Dados, que devolve 400 entregas, e abrimos o relatório HTML no navegador. Depois paramos o Processamento para mostrar o 502 controlado e o retorno ao normal. À direita está a captura do relatório HTML gerado.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0:50] Dos números reais: 400 entregas, das quais 339 concluídas. 74,93 por cento chegaram no prazo; quando há atraso, ele é de 62,82 minutos em média; o custo é de 3,69 reais por quilômetro. Centro é a região mais pontual (86,96%) e Zona Norte a menos (67,65%). Paulo Roberto Mendes lidera o ranking com 95,24%. Foram sinalizados 7 atrasos críticos e 3 custos atípicos. Os testes de resiliência e idempotência passaram, e a recriação do ambiente reproduziu os mesmos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0:30] Concluímos que os objetivos foram atendidos: três microsserviços por HTTP, banco relacional, um Dockerfile por serviço e Compose. A limitação principal é que não há autenticação nem HTTPS; a senha do banco é didática, os dados são sintéticos, a comunicação é síncrona e há uma pequena duplicação deliberada de código entre serviços, para manter a independência. Como próximos passos: autenticação, fila de mensagens, cache e observabilidade. As referências estão no relatório: Fowler e Lewis, Newman e as documentações de Docker, Flask e PostgreSQL. Obrigado! Tempo total estimado: cerca de 8 minutos e 20 segundos, dentro da faixa de 5 a 10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200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Sistema de Microsserviços para Gestão e Análise de Desempenho de Entregas em Logística Urbana</a:t>
            </a:r>
          </a:p>
          <a:p>
            <a:pPr>
              <a:spcBef>
                <a:spcPts val="1200"/>
              </a:spcBef>
            </a:pPr>
            <a:r>
              <a:rPr sz="2200" b="0">
                <a:solidFill>
                  <a:srgbClr val="DBE9F6"/>
                </a:solidFill>
                <a:latin typeface="Calibri"/>
              </a:rPr>
              <a:t>Atividade para Nota 2 – Microsserviços com Docker e Docker 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7498079" cy="1554480"/>
          </a:xfrm>
          <a:prstGeom prst="rect">
            <a:avLst/>
          </a:prstGeom>
          <a:solidFill>
            <a:srgbClr val="FFFF00"/>
          </a:solidFill>
        </p:spPr>
        <p:txBody>
          <a:bodyPr wrap="square" anchor="t" lIns="109728" rIns="109728" tIns="54864" bIns="54864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[NOME COMPLETO DO ALUNO 1] – RA: [RA]</a:t>
            </a:r>
          </a:p>
          <a:p>
            <a:r>
              <a:rPr sz="1800" b="0">
                <a:solidFill>
                  <a:srgbClr val="1A1A1A"/>
                </a:solidFill>
                <a:latin typeface="Calibri"/>
              </a:rPr>
              <a:t>[NOME COMPLETO DO ALUNO 2] – RA: [RA]</a:t>
            </a:r>
          </a:p>
          <a:p>
            <a:r>
              <a:rPr sz="1800" b="0">
                <a:solidFill>
                  <a:srgbClr val="1A1A1A"/>
                </a:solidFill>
                <a:latin typeface="Calibri"/>
              </a:rPr>
              <a:t>[NOME COMPLETO DO ALUNO 3] – RA: [RA]</a:t>
            </a:r>
          </a:p>
          <a:p>
            <a:r>
              <a:rPr sz="1800" b="0">
                <a:solidFill>
                  <a:srgbClr val="1A1A1A"/>
                </a:solidFill>
                <a:latin typeface="Calibri"/>
              </a:rPr>
              <a:t>[NOME COMPLETO DO ALUNO 4] – RA: [RA]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297680"/>
            <a:ext cx="3291840" cy="822960"/>
          </a:xfrm>
          <a:prstGeom prst="rect">
            <a:avLst/>
          </a:prstGeom>
          <a:solidFill>
            <a:srgbClr val="FFFF00"/>
          </a:solidFill>
        </p:spPr>
        <p:txBody>
          <a:bodyPr wrap="square" anchor="t" lIns="109728" rIns="109728" tIns="54864" bIns="54864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Calibri"/>
              </a:rPr>
              <a:t>[NOME DA INSTITUIÇÃO]</a:t>
            </a:r>
          </a:p>
          <a:p>
            <a:r>
              <a:rPr sz="1800" b="0">
                <a:solidFill>
                  <a:srgbClr val="1A1A1A"/>
                </a:solidFill>
                <a:latin typeface="Calibri"/>
              </a:rPr>
              <a:t>[CIDADE],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Cenário e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400" b="0">
                <a:solidFill>
                  <a:srgbClr val="555555"/>
                </a:solidFill>
                <a:latin typeface="Calibri"/>
              </a:rPr>
              <a:t>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Cenário: </a:t>
            </a:r>
            <a:r>
              <a:rPr sz="2400" b="0">
                <a:solidFill>
                  <a:srgbClr val="1A1A1A"/>
                </a:solidFill>
                <a:latin typeface="Calibri"/>
              </a:rPr>
              <a:t>transportadora urbana com 5 regiões, motos, vans e caminhões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Pergunta 1: </a:t>
            </a:r>
            <a:r>
              <a:rPr sz="2400" b="0">
                <a:solidFill>
                  <a:srgbClr val="1A1A1A"/>
                </a:solidFill>
                <a:latin typeface="Calibri"/>
              </a:rPr>
              <a:t>qual percentual das entregas chega no prazo?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Pergunta 2: </a:t>
            </a:r>
            <a:r>
              <a:rPr sz="2400" b="0">
                <a:solidFill>
                  <a:srgbClr val="1A1A1A"/>
                </a:solidFill>
                <a:latin typeface="Calibri"/>
              </a:rPr>
              <a:t>onde a operação é mais lenta ou mais cara?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Pergunta 3: </a:t>
            </a:r>
            <a:r>
              <a:rPr sz="2400" b="0">
                <a:solidFill>
                  <a:srgbClr val="1A1A1A"/>
                </a:solidFill>
                <a:latin typeface="Calibri"/>
              </a:rPr>
              <a:t>quais motoristas são mais pontuais?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Pergunta 4: </a:t>
            </a:r>
            <a:r>
              <a:rPr sz="2400" b="0">
                <a:solidFill>
                  <a:srgbClr val="1A1A1A"/>
                </a:solidFill>
                <a:latin typeface="Calibri"/>
              </a:rPr>
              <a:t>há atrasos graves ou custos fora do padrão?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Dados: </a:t>
            </a:r>
            <a:r>
              <a:rPr sz="2400" b="0">
                <a:solidFill>
                  <a:srgbClr val="1A1A1A"/>
                </a:solidFill>
                <a:latin typeface="Calibri"/>
              </a:rPr>
              <a:t>sintéticos e determinísticos (semente fixa)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400" b="0">
                <a:solidFill>
                  <a:srgbClr val="555555"/>
                </a:solidFill>
                <a:latin typeface="Calibri"/>
              </a:rPr>
              <a:t>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Geral: </a:t>
            </a:r>
            <a:r>
              <a:rPr sz="2400" b="0">
                <a:solidFill>
                  <a:srgbClr val="1A1A1A"/>
                </a:solidFill>
                <a:latin typeface="Calibri"/>
              </a:rPr>
              <a:t>sistema em microsserviços que gera um relatório final de desempenho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Dados: </a:t>
            </a:r>
            <a:r>
              <a:rPr sz="2400" b="0">
                <a:solidFill>
                  <a:srgbClr val="1A1A1A"/>
                </a:solidFill>
                <a:latin typeface="Calibri"/>
              </a:rPr>
              <a:t>PostgreSQL com endpoints de leitura e escrita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Processamento: </a:t>
            </a:r>
            <a:r>
              <a:rPr sz="2400" b="0">
                <a:solidFill>
                  <a:srgbClr val="1A1A1A"/>
                </a:solidFill>
                <a:latin typeface="Calibri"/>
              </a:rPr>
              <a:t>consome os dados por HTTP e calcula indicadores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Relatório: </a:t>
            </a:r>
            <a:r>
              <a:rPr sz="2400" b="0">
                <a:solidFill>
                  <a:srgbClr val="1A1A1A"/>
                </a:solidFill>
                <a:latin typeface="Calibri"/>
              </a:rPr>
              <a:t>orquestra os serviços e entrega JSON, CSV e HTML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Infraestrutura: </a:t>
            </a:r>
            <a:r>
              <a:rPr sz="2400" b="0">
                <a:solidFill>
                  <a:srgbClr val="1A1A1A"/>
                </a:solidFill>
                <a:latin typeface="Calibri"/>
              </a:rPr>
              <a:t>um Dockerfile por serviço e Docker Compose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Validação: </a:t>
            </a:r>
            <a:r>
              <a:rPr sz="2400" b="0">
                <a:solidFill>
                  <a:srgbClr val="1A1A1A"/>
                </a:solidFill>
                <a:latin typeface="Calibri"/>
              </a:rPr>
              <a:t>121 testes automatizados e verificação de ponta a ponta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400" b="0">
                <a:solidFill>
                  <a:srgbClr val="555555"/>
                </a:solidFill>
                <a:latin typeface="Calibri"/>
              </a:rPr>
              <a:t>4 / 12</a:t>
            </a:r>
          </a:p>
        </p:txBody>
      </p:sp>
      <p:pic>
        <p:nvPicPr>
          <p:cNvPr id="5" name="Picture 4" descr="diagrama_arquite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03264"/>
            <a:ext cx="7498079" cy="49829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554480"/>
            <a:ext cx="3840480" cy="45720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1A1A1A"/>
                </a:solidFill>
                <a:latin typeface="Calibri"/>
              </a:rPr>
              <a:t>Cliente acessa só o Relatório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1A1A1A"/>
                </a:solidFill>
                <a:latin typeface="Calibri"/>
              </a:rPr>
              <a:t>Serviços conversam por HTTP/JSON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1A1A1A"/>
                </a:solidFill>
                <a:latin typeface="Calibri"/>
              </a:rPr>
              <a:t>Só o Dados acessa o banco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1A1A1A"/>
                </a:solidFill>
                <a:latin typeface="Calibri"/>
              </a:rPr>
              <a:t>Rede interna no Compose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Tecnologias e justificativas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400" b="0">
                <a:solidFill>
                  <a:srgbClr val="555555"/>
                </a:solidFill>
                <a:latin typeface="Calibri"/>
              </a:rPr>
              <a:t>5 /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1088136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7315200"/>
              </a:tblGrid>
              <a:tr h="65836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Tecnologia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Por que foi escolhida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Python + Flask</a:t>
                      </a:r>
                    </a:p>
                  </a:txBody>
                  <a:tcPr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API enxuta e fácil de explicar</a:t>
                      </a:r>
                    </a:p>
                  </a:txBody>
                  <a:tcPr anchor="ctr">
                    <a:solidFill>
                      <a:srgbClr val="DBE9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Gunicorn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Servidor de produção nos contêineres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PostgreSQL 16</a:t>
                      </a:r>
                    </a:p>
                  </a:txBody>
                  <a:tcPr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Relacional, com chaves e restrições</a:t>
                      </a:r>
                    </a:p>
                  </a:txBody>
                  <a:tcPr anchor="ctr">
                    <a:solidFill>
                      <a:srgbClr val="DBE9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requests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Chamadas HTTP entre serviços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Docker + Compose</a:t>
                      </a:r>
                    </a:p>
                  </a:txBody>
                  <a:tcPr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Ambiente idêntico com um comando</a:t>
                      </a:r>
                    </a:p>
                  </a:txBody>
                  <a:tcPr anchor="ctr">
                    <a:solidFill>
                      <a:srgbClr val="DBE9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pytest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A1A1A"/>
                          </a:solidFill>
                          <a:latin typeface="Calibri"/>
                        </a:rPr>
                        <a:t>Testa os 3 serviços sem Docker, rede nem banco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Serviço de Dados (porta 8001)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400" b="0">
                <a:solidFill>
                  <a:srgbClr val="555555"/>
                </a:solidFill>
                <a:latin typeface="Calibri"/>
              </a:rPr>
              <a:t>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Modelo: </a:t>
            </a:r>
            <a:r>
              <a:rPr sz="2400" b="0">
                <a:solidFill>
                  <a:srgbClr val="1A1A1A"/>
                </a:solidFill>
                <a:latin typeface="Calibri"/>
              </a:rPr>
              <a:t>motoristas, veículos e entregas com chaves estrangeiras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Carga: </a:t>
            </a:r>
            <a:r>
              <a:rPr sz="2400" b="0">
                <a:solidFill>
                  <a:srgbClr val="1A1A1A"/>
                </a:solidFill>
                <a:latin typeface="Calibri"/>
              </a:rPr>
              <a:t>20 motoristas, 12 veículos, 400 entregas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Leitura: </a:t>
            </a:r>
            <a:r>
              <a:rPr sz="2400" b="0">
                <a:solidFill>
                  <a:srgbClr val="1A1A1A"/>
                </a:solidFill>
                <a:latin typeface="Calibri"/>
              </a:rPr>
              <a:t>GET com filtros (região, status, datas) e paginação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Escrita: </a:t>
            </a:r>
            <a:r>
              <a:rPr sz="2400" b="0">
                <a:solidFill>
                  <a:srgbClr val="1A1A1A"/>
                </a:solidFill>
                <a:latin typeface="Calibri"/>
              </a:rPr>
              <a:t>POST em todas as entidades e PATCH em entregas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Erros: </a:t>
            </a:r>
            <a:r>
              <a:rPr sz="2400" b="0">
                <a:solidFill>
                  <a:srgbClr val="1A1A1A"/>
                </a:solidFill>
                <a:latin typeface="Calibri"/>
              </a:rPr>
              <a:t>JSON com 400, 404, 405, 409 (placa duplicada), 500 e 503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Idempotente: </a:t>
            </a:r>
            <a:r>
              <a:rPr sz="2400" b="0">
                <a:solidFill>
                  <a:srgbClr val="1A1A1A"/>
                </a:solidFill>
                <a:latin typeface="Calibri"/>
              </a:rPr>
              <a:t>reiniciar não duplica os dados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Serviço de Processamento (porta 8002)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400" b="0">
                <a:solidFill>
                  <a:srgbClr val="555555"/>
                </a:solidFill>
                <a:latin typeface="Calibri"/>
              </a:rPr>
              <a:t>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Entrada: </a:t>
            </a:r>
            <a:r>
              <a:rPr sz="2400" b="0">
                <a:solidFill>
                  <a:srgbClr val="1A1A1A"/>
                </a:solidFill>
                <a:latin typeface="Calibri"/>
              </a:rPr>
              <a:t>somente HTTP, paginando o Serviço de Dados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Atraso: </a:t>
            </a:r>
            <a:r>
              <a:rPr sz="2400" b="0">
                <a:solidFill>
                  <a:srgbClr val="1A1A1A"/>
                </a:solidFill>
                <a:latin typeface="Calibri"/>
              </a:rPr>
              <a:t>derivado, máx(0, entregue_em − prazo_previsto)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Indicadores: </a:t>
            </a:r>
            <a:r>
              <a:rPr sz="2400" b="0">
                <a:solidFill>
                  <a:srgbClr val="1A1A1A"/>
                </a:solidFill>
                <a:latin typeface="Calibri"/>
              </a:rPr>
              <a:t>% no prazo, atraso médio e custo por km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Ranking: </a:t>
            </a:r>
            <a:r>
              <a:rPr sz="2400" b="0">
                <a:solidFill>
                  <a:srgbClr val="1A1A1A"/>
                </a:solidFill>
                <a:latin typeface="Calibri"/>
              </a:rPr>
              <a:t>motoristas com pelo menos 5 entregas concluídas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Críticos: </a:t>
            </a:r>
            <a:r>
              <a:rPr sz="2400" b="0">
                <a:solidFill>
                  <a:srgbClr val="1A1A1A"/>
                </a:solidFill>
                <a:latin typeface="Calibri"/>
              </a:rPr>
              <a:t>atraso de 120 min ou mais; outliers pela regra do IQR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Qualidade e testes: </a:t>
            </a:r>
            <a:r>
              <a:rPr sz="2400" b="0">
                <a:solidFill>
                  <a:srgbClr val="1A1A1A"/>
                </a:solidFill>
                <a:latin typeface="Calibri"/>
              </a:rPr>
              <a:t>121 testes pytest nos 3 serviços, sem Docker nem rede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Serviço de Relatório (porta 8003)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400" b="0">
                <a:solidFill>
                  <a:srgbClr val="555555"/>
                </a:solidFill>
                <a:latin typeface="Calibri"/>
              </a:rPr>
              <a:t>8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474720" cy="1463040"/>
          </a:xfrm>
          <a:prstGeom prst="roundRect">
            <a:avLst/>
          </a:prstGeom>
          <a:solidFill>
            <a:srgbClr val="DBE9F6"/>
          </a:solidFill>
          <a:ln w="25400">
            <a:solidFill>
              <a:srgbClr val="0B3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B3D66"/>
                </a:solidFill>
                <a:latin typeface="Calibri"/>
              </a:rPr>
              <a:t>JSON</a:t>
            </a:r>
          </a:p>
          <a:p>
            <a:pPr algn="ctr"/>
            <a:r>
              <a:rPr sz="1800" b="0">
                <a:solidFill>
                  <a:srgbClr val="1A1A1A"/>
                </a:solidFill>
                <a:latin typeface="Calibri"/>
              </a:rPr>
              <a:t>integração com outros sistemas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74720" cy="1463040"/>
          </a:xfrm>
          <a:prstGeom prst="roundRect">
            <a:avLst/>
          </a:prstGeom>
          <a:solidFill>
            <a:srgbClr val="DBE9F6"/>
          </a:solidFill>
          <a:ln w="25400">
            <a:solidFill>
              <a:srgbClr val="0B3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B3D66"/>
                </a:solidFill>
                <a:latin typeface="Calibri"/>
              </a:rPr>
              <a:t>CSV</a:t>
            </a:r>
          </a:p>
          <a:p>
            <a:pPr algn="ctr"/>
            <a:r>
              <a:rPr sz="1800" b="0">
                <a:solidFill>
                  <a:srgbClr val="1A1A1A"/>
                </a:solidFill>
                <a:latin typeface="Calibri"/>
              </a:rPr>
              <a:t>planilhas (formato longo)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1463040"/>
            <a:ext cx="3474720" cy="1463040"/>
          </a:xfrm>
          <a:prstGeom prst="roundRect">
            <a:avLst/>
          </a:prstGeom>
          <a:solidFill>
            <a:srgbClr val="DBE9F6"/>
          </a:solidFill>
          <a:ln w="25400">
            <a:solidFill>
              <a:srgbClr val="0B3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B3D66"/>
                </a:solidFill>
                <a:latin typeface="Calibri"/>
              </a:rPr>
              <a:t>HTML</a:t>
            </a:r>
          </a:p>
          <a:p>
            <a:pPr algn="ctr"/>
            <a:r>
              <a:rPr sz="1800" b="0">
                <a:solidFill>
                  <a:srgbClr val="1A1A1A"/>
                </a:solidFill>
                <a:latin typeface="Calibri"/>
              </a:rPr>
              <a:t>leitura direta no navegador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972800" cy="2743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Fluxo: </a:t>
            </a:r>
            <a:r>
              <a:rPr sz="2400" b="0">
                <a:solidFill>
                  <a:srgbClr val="1A1A1A"/>
                </a:solidFill>
                <a:latin typeface="Calibri"/>
              </a:rPr>
              <a:t>Dados (/resumo) + Processamento (/metricas/completo) → relatório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Entrada: </a:t>
            </a:r>
            <a:r>
              <a:rPr sz="2400" b="0">
                <a:solidFill>
                  <a:srgbClr val="1A1A1A"/>
                </a:solidFill>
                <a:latin typeface="Calibri"/>
              </a:rPr>
              <a:t>/relatorio?formato=json|csv|html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Falhas: </a:t>
            </a:r>
            <a:r>
              <a:rPr sz="2400" b="0">
                <a:solidFill>
                  <a:srgbClr val="1A1A1A"/>
                </a:solidFill>
                <a:latin typeface="Calibri"/>
              </a:rPr>
              <a:t>400 para formato inválido; 502 se uma dependência cair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Timeouts: </a:t>
            </a:r>
            <a:r>
              <a:rPr sz="2400" b="0">
                <a:solidFill>
                  <a:srgbClr val="1A1A1A"/>
                </a:solidFill>
                <a:latin typeface="Calibri"/>
              </a:rPr>
              <a:t>5 s (Processamento→Dados) &lt; 30 s (Relatório→Processamento) &lt; 60 s (Gunicorn)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Docker e Docker 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400" b="0">
                <a:solidFill>
                  <a:srgbClr val="555555"/>
                </a:solidFill>
                <a:latin typeface="Calibri"/>
              </a:rPr>
              <a:t>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Dockerfiles: </a:t>
            </a:r>
            <a:r>
              <a:rPr sz="2400" b="0">
                <a:solidFill>
                  <a:srgbClr val="1A1A1A"/>
                </a:solidFill>
                <a:latin typeface="Calibri"/>
              </a:rPr>
              <a:t>3, um por serviço, base python:3.12.12-slim, usuário não root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Compose: </a:t>
            </a:r>
            <a:r>
              <a:rPr sz="2400" b="0">
                <a:solidFill>
                  <a:srgbClr val="1A1A1A"/>
                </a:solidFill>
                <a:latin typeface="Calibri"/>
              </a:rPr>
              <a:t>projeto logistica, rede logistica-net, volume pgdata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Healthchecks: </a:t>
            </a:r>
            <a:r>
              <a:rPr sz="2400" b="0">
                <a:solidFill>
                  <a:srgbClr val="1A1A1A"/>
                </a:solidFill>
                <a:latin typeface="Calibri"/>
              </a:rPr>
              <a:t>pg_isready no banco e /health nos serviços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Ordem: </a:t>
            </a:r>
            <a:r>
              <a:rPr sz="2400" b="0">
                <a:solidFill>
                  <a:srgbClr val="1A1A1A"/>
                </a:solidFill>
                <a:latin typeface="Calibri"/>
              </a:rPr>
              <a:t>depends_on com service_healthy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Exposição: </a:t>
            </a:r>
            <a:r>
              <a:rPr sz="2400" b="0">
                <a:solidFill>
                  <a:srgbClr val="1A1A1A"/>
                </a:solidFill>
                <a:latin typeface="Calibri"/>
              </a:rPr>
              <a:t>portas 8001, 8002 e 8003; o banco fica interno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Subida: </a:t>
            </a:r>
            <a:r>
              <a:rPr sz="2400" b="0">
                <a:solidFill>
                  <a:srgbClr val="1A1A1A"/>
                </a:solidFill>
                <a:latin typeface="Calibri"/>
              </a:rPr>
              <a:t>docker compose up -d --build --wait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400" b="0">
                <a:solidFill>
                  <a:srgbClr val="555555"/>
                </a:solidFill>
                <a:latin typeface="Calibri"/>
              </a:rP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852160" cy="3840480"/>
          </a:xfrm>
          <a:prstGeom prst="rect">
            <a:avLst/>
          </a:prstGeom>
          <a:solidFill>
            <a:srgbClr val="1E1E1E"/>
          </a:solidFill>
        </p:spPr>
        <p:txBody>
          <a:bodyPr wrap="square" anchor="t" lIns="109728" rIns="109728" tIns="54864" bIns="54864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E6E6E6"/>
                </a:solidFill>
                <a:latin typeface="Consolas"/>
              </a:rPr>
              <a:t>docker compose up -d --build --wait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6E6E6"/>
                </a:solidFill>
                <a:latin typeface="Consolas"/>
              </a:rPr>
              <a:t>docker compose ps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6E6E6"/>
                </a:solidFill>
                <a:latin typeface="Consolas"/>
              </a:rPr>
              <a:t>curl localhost:8001/resumo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6E6E6"/>
                </a:solidFill>
                <a:latin typeface="Consolas"/>
              </a:rPr>
              <a:t>curl localhost:8002/metricas/completo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6E6E6"/>
                </a:solidFill>
                <a:latin typeface="Consolas"/>
              </a:rPr>
              <a:t>curl "localhost:8003/relatorio?formato=html"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5852160" cy="10972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marL="274320" indent="-274320">
              <a:spcAft>
                <a:spcPts val="1000"/>
              </a:spcAft>
              <a:buChar char="•"/>
            </a:pPr>
            <a:r>
              <a:rPr sz="2000" b="0">
                <a:solidFill>
                  <a:srgbClr val="1A1A1A"/>
                </a:solidFill>
                <a:latin typeface="Calibri"/>
              </a:rPr>
              <a:t>Teste: parar o Processamento → 502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1758791"/>
            <a:ext cx="5212080" cy="40719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400" b="0">
                <a:solidFill>
                  <a:srgbClr val="555555"/>
                </a:solidFill>
                <a:latin typeface="Calibri"/>
              </a:rPr>
              <a:t>11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743200" cy="1234440"/>
          </a:xfrm>
          <a:prstGeom prst="roundRect">
            <a:avLst/>
          </a:prstGeom>
          <a:solidFill>
            <a:srgbClr val="DBE9F6"/>
          </a:solidFill>
          <a:ln w="25400">
            <a:solidFill>
              <a:srgbClr val="0B3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B3D66"/>
                </a:solidFill>
                <a:latin typeface="Calibri"/>
              </a:rPr>
              <a:t>400</a:t>
            </a:r>
          </a:p>
          <a:p>
            <a:pPr algn="ctr"/>
            <a:r>
              <a:rPr sz="1800" b="0">
                <a:solidFill>
                  <a:srgbClr val="1A1A1A"/>
                </a:solidFill>
                <a:latin typeface="Calibri"/>
              </a:rPr>
              <a:t>entregas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188720"/>
            <a:ext cx="2743200" cy="1234440"/>
          </a:xfrm>
          <a:prstGeom prst="roundRect">
            <a:avLst/>
          </a:prstGeom>
          <a:solidFill>
            <a:srgbClr val="DBE9F6"/>
          </a:solidFill>
          <a:ln w="25400">
            <a:solidFill>
              <a:srgbClr val="0B3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B3D66"/>
                </a:solidFill>
                <a:latin typeface="Calibri"/>
              </a:rPr>
              <a:t>74,93%</a:t>
            </a:r>
          </a:p>
          <a:p>
            <a:pPr algn="ctr"/>
            <a:r>
              <a:rPr sz="1800" b="0">
                <a:solidFill>
                  <a:srgbClr val="1A1A1A"/>
                </a:solidFill>
                <a:latin typeface="Calibri"/>
              </a:rPr>
              <a:t>no prazo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2743200" cy="1234440"/>
          </a:xfrm>
          <a:prstGeom prst="roundRect">
            <a:avLst/>
          </a:prstGeom>
          <a:solidFill>
            <a:srgbClr val="DBE9F6"/>
          </a:solidFill>
          <a:ln w="25400">
            <a:solidFill>
              <a:srgbClr val="0B3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B3D66"/>
                </a:solidFill>
                <a:latin typeface="Calibri"/>
              </a:rPr>
              <a:t>62,82 min</a:t>
            </a:r>
          </a:p>
          <a:p>
            <a:pPr algn="ctr"/>
            <a:r>
              <a:rPr sz="1800" b="0">
                <a:solidFill>
                  <a:srgbClr val="1A1A1A"/>
                </a:solidFill>
                <a:latin typeface="Calibri"/>
              </a:rPr>
              <a:t>atraso médio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188720"/>
            <a:ext cx="2743200" cy="1234440"/>
          </a:xfrm>
          <a:prstGeom prst="roundRect">
            <a:avLst/>
          </a:prstGeom>
          <a:solidFill>
            <a:srgbClr val="DBE9F6"/>
          </a:solidFill>
          <a:ln w="25400">
            <a:solidFill>
              <a:srgbClr val="0B3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0B3D66"/>
                </a:solidFill>
                <a:latin typeface="Calibri"/>
              </a:rPr>
              <a:t>R$ 3,69</a:t>
            </a:r>
          </a:p>
          <a:p>
            <a:pPr algn="ctr"/>
            <a:r>
              <a:rPr sz="1800" b="0">
                <a:solidFill>
                  <a:srgbClr val="1A1A1A"/>
                </a:solidFill>
                <a:latin typeface="Calibri"/>
              </a:rPr>
              <a:t>custo por km</a:t>
            </a:r>
          </a:p>
        </p:txBody>
      </p:sp>
      <p:pic>
        <p:nvPicPr>
          <p:cNvPr id="9" name="Picture 8" descr="grafico_regio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04" y="2606040"/>
            <a:ext cx="4860431" cy="3108959"/>
          </a:xfrm>
          <a:prstGeom prst="rect">
            <a:avLst/>
          </a:prstGeom>
        </p:spPr>
      </p:pic>
      <p:pic>
        <p:nvPicPr>
          <p:cNvPr id="10" name="Picture 9" descr="grafico_ran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976" y="2606040"/>
            <a:ext cx="5361727" cy="3108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5760720"/>
            <a:ext cx="1143000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r>
              <a:rPr sz="1800" b="1">
                <a:solidFill>
                  <a:srgbClr val="0B3D66"/>
                </a:solidFill>
                <a:latin typeface="Calibri"/>
              </a:rPr>
              <a:t>Melhor região: Centro (86,96%) · Pior: Zona Norte (67,65%) · Líder: Paulo Roberto Mendes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Conclusão, limitações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64592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400" b="0">
                <a:solidFill>
                  <a:srgbClr val="555555"/>
                </a:solidFill>
                <a:latin typeface="Calibri"/>
              </a:rP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Conclusão: </a:t>
            </a:r>
            <a:r>
              <a:rPr sz="2400" b="0">
                <a:solidFill>
                  <a:srgbClr val="1A1A1A"/>
                </a:solidFill>
                <a:latin typeface="Calibri"/>
              </a:rPr>
              <a:t>requisitos atendidos, com ambiente reproduzível em um comando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Limitações: </a:t>
            </a:r>
            <a:r>
              <a:rPr sz="2400" b="0">
                <a:solidFill>
                  <a:srgbClr val="1A1A1A"/>
                </a:solidFill>
                <a:latin typeface="Calibri"/>
              </a:rPr>
              <a:t>sem autenticação nem HTTPS; senha didática; dados sintéticos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Limitações: </a:t>
            </a:r>
            <a:r>
              <a:rPr sz="2400" b="0">
                <a:solidFill>
                  <a:srgbClr val="1A1A1A"/>
                </a:solidFill>
                <a:latin typeface="Calibri"/>
              </a:rPr>
              <a:t>comunicação síncrona; duplicação deliberada entre serviços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Futuro: </a:t>
            </a:r>
            <a:r>
              <a:rPr sz="2400" b="0">
                <a:solidFill>
                  <a:srgbClr val="1A1A1A"/>
                </a:solidFill>
                <a:latin typeface="Calibri"/>
              </a:rPr>
              <a:t>autenticação, mensageria, cache, observabilidade e CI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Referências: </a:t>
            </a:r>
            <a:r>
              <a:rPr sz="2400" b="0">
                <a:solidFill>
                  <a:srgbClr val="1A1A1A"/>
                </a:solidFill>
                <a:latin typeface="Calibri"/>
              </a:rPr>
              <a:t>Fowler e Lewis (2014); Newman (2021)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2400" b="1">
                <a:solidFill>
                  <a:srgbClr val="0B3D66"/>
                </a:solidFill>
                <a:latin typeface="Calibri"/>
              </a:rPr>
              <a:t>Documentação: </a:t>
            </a:r>
            <a:r>
              <a:rPr sz="2400" b="0">
                <a:solidFill>
                  <a:srgbClr val="1A1A1A"/>
                </a:solidFill>
                <a:latin typeface="Calibri"/>
              </a:rPr>
              <a:t>Docker, Compose, Flask, PostgreSQL e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